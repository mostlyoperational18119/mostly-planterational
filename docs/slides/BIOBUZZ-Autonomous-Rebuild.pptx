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02336" cy="274320"/>
          </a:xfrm>
          <a:prstGeom prst="roundRect">
            <a:avLst>
              <a:gd name="adj" fmla="val 18000"/>
            </a:avLst>
          </a:prstGeom>
          <a:solidFill>
            <a:srgbClr val="2A2216"/>
          </a:solidFill>
          <a:ln w="12700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274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60">
                <a:solidFill>
                  <a:srgbClr val="FFFFFF"/>
                </a:solidFill>
                <a:latin typeface="Do Hyeon"/>
              </a:rPr>
              <a:t>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6775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Design targets, not yet measured on the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500" b="0">
                <a:solidFill>
                  <a:srgbClr val="FFFFFF"/>
                </a:solidFill>
                <a:latin typeface="Limelight"/>
              </a:rPr>
              <a:t>One Thing At A Time, Or All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969264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Last season the robot finished one job before starting the next. Now the arm moves while the robot is still driving - and it never stops checking where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31847"/>
            <a:ext cx="45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80">
                <a:solidFill>
                  <a:srgbClr val="FFFFFF"/>
                </a:solidFill>
                <a:latin typeface="Do Hyeon"/>
              </a:rPr>
              <a:t>0s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9503" y="2014727"/>
            <a:ext cx="7315" cy="82296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9503" y="1831847"/>
            <a:ext cx="45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80">
                <a:solidFill>
                  <a:srgbClr val="FFFFFF"/>
                </a:solidFill>
                <a:latin typeface="Do Hyeon"/>
              </a:rPr>
              <a:t>1s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5927" y="2014727"/>
            <a:ext cx="7315" cy="82296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5927" y="1831847"/>
            <a:ext cx="45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80">
                <a:solidFill>
                  <a:srgbClr val="FFFFFF"/>
                </a:solidFill>
                <a:latin typeface="Do Hyeon"/>
              </a:rPr>
              <a:t>2s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12351" y="2014727"/>
            <a:ext cx="7315" cy="82296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2351" y="1831847"/>
            <a:ext cx="45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80">
                <a:solidFill>
                  <a:srgbClr val="FFFFFF"/>
                </a:solidFill>
                <a:latin typeface="Do Hyeon"/>
              </a:rPr>
              <a:t>3s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688775" y="2014727"/>
            <a:ext cx="7315" cy="82296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77879" y="1831847"/>
            <a:ext cx="45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80">
                <a:solidFill>
                  <a:srgbClr val="FFFFFF"/>
                </a:solidFill>
                <a:latin typeface="Do Hyeon"/>
              </a:rPr>
              <a:t>4s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2115311"/>
            <a:ext cx="9905695" cy="9144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00618" y="2211323"/>
            <a:ext cx="118872" cy="118872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4354" y="2142743"/>
            <a:ext cx="155448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Driving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4167" y="2211323"/>
            <a:ext cx="118872" cy="11887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903" y="2142743"/>
            <a:ext cx="155448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Arm / turret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27791" y="2211323"/>
            <a:ext cx="118872" cy="118872"/>
          </a:xfrm>
          <a:prstGeom prst="rect">
            <a:avLst/>
          </a:prstGeom>
          <a:solidFill>
            <a:srgbClr val="C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01527" y="2142743"/>
            <a:ext cx="155448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Frozen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170175"/>
            <a:ext cx="41148" cy="201168"/>
          </a:xfrm>
          <a:prstGeom prst="rect">
            <a:avLst/>
          </a:prstGeom>
          <a:solidFill>
            <a:srgbClr val="C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2142743"/>
            <a:ext cx="752337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LAST SEASON - wait for each job to finish; the robot stops tracking itself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451607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wheels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2451607"/>
            <a:ext cx="9905695" cy="31089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01368" y="2469895"/>
            <a:ext cx="3678059" cy="274320"/>
          </a:xfrm>
          <a:prstGeom prst="rect">
            <a:avLst/>
          </a:prstGeom>
          <a:solidFill>
            <a:srgbClr val="17403A"/>
          </a:solidFill>
          <a:ln w="9525">
            <a:solidFill>
              <a:srgbClr val="4EC5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27432" tIns="0" bIns="0" wrap="none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Drive to goal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97387" y="2469895"/>
            <a:ext cx="1201635" cy="274320"/>
          </a:xfrm>
          <a:prstGeom prst="rect">
            <a:avLst/>
          </a:prstGeom>
          <a:solidFill>
            <a:srgbClr val="17403A"/>
          </a:solidFill>
          <a:ln w="9525">
            <a:solidFill>
              <a:srgbClr val="4EC5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27432" tIns="0" bIns="0" wrap="none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Drive 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799079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arm + aim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83080" y="2799079"/>
            <a:ext cx="9905695" cy="31089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16003" y="2817367"/>
            <a:ext cx="2935132" cy="274320"/>
          </a:xfrm>
          <a:prstGeom prst="rect">
            <a:avLst/>
          </a:prstGeom>
          <a:solidFill>
            <a:srgbClr val="4A340F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27432" tIns="0" bIns="0" wrap="none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Raise arm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87712" y="2817367"/>
            <a:ext cx="1325457" cy="274320"/>
          </a:xfrm>
          <a:prstGeom prst="rect">
            <a:avLst/>
          </a:prstGeom>
          <a:solidFill>
            <a:srgbClr val="4A2018"/>
          </a:solidFill>
          <a:ln w="9525">
            <a:solidFill>
              <a:srgbClr val="C4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27432" tIns="0" bIns="0" wrap="none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Waits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49745" y="2817367"/>
            <a:ext cx="211066" cy="274320"/>
          </a:xfrm>
          <a:prstGeom prst="rect">
            <a:avLst/>
          </a:prstGeom>
          <a:solidFill>
            <a:srgbClr val="4A340F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35599" y="2817367"/>
            <a:ext cx="334887" cy="274320"/>
          </a:xfrm>
          <a:prstGeom prst="rect">
            <a:avLst/>
          </a:prstGeom>
          <a:solidFill>
            <a:srgbClr val="4A340F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83080" y="3146551"/>
            <a:ext cx="99056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Total 4.0 seconds - and the tracker was frozen for 2.5 s of it.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10863"/>
            <a:ext cx="41148" cy="20116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" y="3583432"/>
            <a:ext cx="1078992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THIS SEASON - IVY + PEDRO PATHING: jobs overlap; the tracker never stops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89229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wheels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83080" y="3892296"/>
            <a:ext cx="9905695" cy="31089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01368" y="3910583"/>
            <a:ext cx="3678059" cy="274320"/>
          </a:xfrm>
          <a:prstGeom prst="rect">
            <a:avLst/>
          </a:prstGeom>
          <a:solidFill>
            <a:srgbClr val="17403A"/>
          </a:solidFill>
          <a:ln w="9525">
            <a:solidFill>
              <a:srgbClr val="4EC5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27432" tIns="0" bIns="0" wrap="none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Drive to goal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3646" y="3910583"/>
            <a:ext cx="1201635" cy="274320"/>
          </a:xfrm>
          <a:prstGeom prst="rect">
            <a:avLst/>
          </a:prstGeom>
          <a:solidFill>
            <a:srgbClr val="17403A"/>
          </a:solidFill>
          <a:ln w="9525">
            <a:solidFill>
              <a:srgbClr val="4EC5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27432" tIns="0" bIns="0" wrap="none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Drive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23976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arm + aim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83080" y="4239768"/>
            <a:ext cx="9905695" cy="31089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44295" y="4258056"/>
            <a:ext cx="2935132" cy="274320"/>
          </a:xfrm>
          <a:prstGeom prst="rect">
            <a:avLst/>
          </a:prstGeom>
          <a:solidFill>
            <a:srgbClr val="4A340F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27432" tIns="0" bIns="0" wrap="none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Raise arm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16003" y="4258056"/>
            <a:ext cx="211066" cy="274320"/>
          </a:xfrm>
          <a:prstGeom prst="rect">
            <a:avLst/>
          </a:prstGeom>
          <a:solidFill>
            <a:srgbClr val="4A340F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63646" y="4258056"/>
            <a:ext cx="1201635" cy="274320"/>
          </a:xfrm>
          <a:prstGeom prst="rect">
            <a:avLst/>
          </a:prstGeom>
          <a:solidFill>
            <a:srgbClr val="4A340F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27432" tIns="0" bIns="0" wrap="none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Retract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4587240"/>
            <a:ext cx="99056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Total 2.1 seconds - same jobs, same speeds, simply overlapped.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078984"/>
            <a:ext cx="2679877" cy="1160526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078984"/>
            <a:ext cx="41148" cy="116052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197856"/>
            <a:ext cx="2368981" cy="9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500" b="0">
                <a:solidFill>
                  <a:srgbClr val="FFFFFF"/>
                </a:solidFill>
                <a:latin typeface="Limelight"/>
              </a:rPr>
              <a:t>1.9×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faster scoring cycle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4.0 s  →  2.1 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8245" y="5078984"/>
            <a:ext cx="2679877" cy="1160526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38245" y="5078984"/>
            <a:ext cx="41148" cy="116052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1125" y="5197856"/>
            <a:ext cx="2368981" cy="9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500" b="0">
                <a:solidFill>
                  <a:srgbClr val="FFFFFF"/>
                </a:solidFill>
                <a:latin typeface="Limelight"/>
              </a:rPr>
              <a:t>50×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fresher aiming data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300 ms old → 6 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3571" y="5078984"/>
            <a:ext cx="2679877" cy="1160526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3571" y="5078984"/>
            <a:ext cx="41148" cy="116052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6451" y="5197856"/>
            <a:ext cx="2368981" cy="9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500" b="0">
                <a:solidFill>
                  <a:srgbClr val="FFFFFF"/>
                </a:solidFill>
                <a:latin typeface="Limelight"/>
              </a:rPr>
              <a:t>45×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tighter aim at speed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~45 cm → under 1 cm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08897" y="5078984"/>
            <a:ext cx="2679877" cy="1160526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08897" y="5078984"/>
            <a:ext cx="41148" cy="116052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91777" y="5197856"/>
            <a:ext cx="2368981" cy="9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500" b="0">
                <a:solidFill>
                  <a:srgbClr val="FFFFFF"/>
                </a:solidFill>
                <a:latin typeface="Limelight"/>
              </a:rPr>
              <a:t>60×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quicker sensor reads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20 ms → 0.3 ms a pass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9149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00">
                <a:solidFill>
                  <a:srgbClr val="FFFFFF"/>
                </a:solidFill>
                <a:latin typeface="Do Hyeon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02336" cy="274320"/>
          </a:xfrm>
          <a:prstGeom prst="roundRect">
            <a:avLst>
              <a:gd name="adj" fmla="val 18000"/>
            </a:avLst>
          </a:prstGeom>
          <a:solidFill>
            <a:srgbClr val="2A2216"/>
          </a:solidFill>
          <a:ln w="12700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274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60">
                <a:solidFill>
                  <a:srgbClr val="FFFFFF"/>
                </a:solidFill>
                <a:latin typeface="Do Hyeon"/>
              </a:rPr>
              <a:t>WHAT WE ACTUALLY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897880" y="406908"/>
            <a:ext cx="5790895" cy="10972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500" b="0">
                <a:solidFill>
                  <a:srgbClr val="FFFFFF"/>
                </a:solidFill>
                <a:latin typeface="Limelight"/>
              </a:rPr>
              <a:t>The Pieces To 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96926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Nine files carry the design. Once Lift exists, every other mechanism is the same shape.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65148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65148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65148"/>
            <a:ext cx="41148" cy="29260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65148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Robot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5413" y="1565148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CONDUCTOR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21764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Runs the six-step pass and keeps the list of mechanisms.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36368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77516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startCycle() / read() / write()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holds every subsystem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354" y="1565148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3354" y="1565148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3354" y="1565148"/>
            <a:ext cx="41148" cy="29260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6234" y="1565148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Subsystem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1565148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THE MOULD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6234" y="1921764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The shape every mechanism must fit. Four methods.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6234" y="2436368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6234" y="2477516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read() - look at hardware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write() - move hardware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3788" y="1565148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3788" y="1565148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3788" y="1565148"/>
            <a:ext cx="41148" cy="292608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6668" y="1565148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Drive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6282" y="1565148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WHEELS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6668" y="1921764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Wraps Pedro, and claims the drivetrain so paths can't fight.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6668" y="2436368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6668" y="2477516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follow(path) / turnTo(angle)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waitForT(0.55) - 55% along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152139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152139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152139"/>
            <a:ext cx="41148" cy="29260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152139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Lift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5413" y="3152139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PATTERN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508755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The template for every mechanism. Commands only set a target.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023359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064507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goTo(HIGH) - with a timeout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position / 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3354" y="3152139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83354" y="3152139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83354" y="3152139"/>
            <a:ext cx="41148" cy="29260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6234" y="3152139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Turret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847" y="3152139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AIMING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6234" y="3508755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Aims all match, and steps aside when a job needs it fixed.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66234" y="4023359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6234" y="4064507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trackGoal() - never-ending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holdAt(angle) - takes over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63788" y="3152139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63788" y="3152139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63788" y="3152139"/>
            <a:ext cx="41148" cy="292608"/>
          </a:xfrm>
          <a:prstGeom prst="rect">
            <a:avLst/>
          </a:prstGeom>
          <a:solidFill>
            <a:srgbClr val="C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46668" y="3152139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Vision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6282" y="3152139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LIMELIGHT 3A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6668" y="3508755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Collects the answer the smart camera already worked out.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46668" y="4023359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6668" y="4064507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hasFix() / fieldPose()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drops sightings over 100 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739132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4739132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4739132"/>
            <a:ext cx="41148" cy="292608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4739132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Paths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15413" y="4739132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MAP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095748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Every curve we will drive, worked out before the match.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" y="5610352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651500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startToScore, park, and so on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built once, at start-up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83354" y="4739132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83354" y="4739132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83354" y="4739132"/>
            <a:ext cx="41148" cy="29260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66234" y="4739132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Routines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95847" y="4739132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GAME PLAN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66234" y="5095748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The recipes: what runs together, and what runs in order.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66234" y="5610352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66234" y="5651500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scoreCycle() / intakeCycle()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every step has a time limit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63788" y="4739132"/>
            <a:ext cx="3624986" cy="1477264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063788" y="4739132"/>
            <a:ext cx="3624986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63788" y="4739132"/>
            <a:ext cx="41148" cy="292608"/>
          </a:xfrm>
          <a:prstGeom prst="rect">
            <a:avLst/>
          </a:prstGeom>
          <a:solidFill>
            <a:srgbClr val="C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46668" y="4739132"/>
            <a:ext cx="181249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LoopTimer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6282" y="4739132"/>
            <a:ext cx="16479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10">
                <a:solidFill>
                  <a:srgbClr val="FFFFFF"/>
                </a:solidFill>
                <a:latin typeface="Do Hyeon"/>
              </a:rPr>
              <a:t>STOPWATCH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46668" y="5095748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Shows typical and worst pass time, so a stall is obvious.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46668" y="5610352"/>
            <a:ext cx="3259226" cy="7315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46668" y="5651500"/>
            <a:ext cx="325922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median / p95 / worst</a:t>
            </a:r>
          </a:p>
          <a:p>
            <a:pPr algn="l" marL="164592" indent="-164592">
              <a:lnSpc>
                <a:spcPct val="9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-  </a:t>
            </a:r>
            <a:r>
              <a:rPr sz="1600" b="0">
                <a:solidFill>
                  <a:srgbClr val="FFFFFF"/>
                </a:solidFill>
                <a:latin typeface="Do Hyeon"/>
              </a:rPr>
              <a:t>target 6 ms, worst 12 ms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9149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00">
                <a:solidFill>
                  <a:srgbClr val="FFFFFF"/>
                </a:solidFill>
                <a:latin typeface="Do Hyeon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02336" cy="274320"/>
          </a:xfrm>
          <a:prstGeom prst="roundRect">
            <a:avLst>
              <a:gd name="adj" fmla="val 18000"/>
            </a:avLst>
          </a:prstGeom>
          <a:solidFill>
            <a:srgbClr val="2A2216"/>
          </a:solidFill>
          <a:ln w="12700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274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60">
                <a:solidFill>
                  <a:srgbClr val="FFFFFF"/>
                </a:solidFill>
                <a:latin typeface="Do Hyeon"/>
              </a:rPr>
              <a:t>HOW IT FITS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650175" y="342900"/>
            <a:ext cx="118872" cy="11887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05623" y="288036"/>
            <a:ext cx="201168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we write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74581" y="342900"/>
            <a:ext cx="118872" cy="118872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30029" y="288036"/>
            <a:ext cx="201168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Pedro / Ivy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83138" y="342900"/>
            <a:ext cx="118872" cy="118872"/>
          </a:xfrm>
          <a:prstGeom prst="rect">
            <a:avLst/>
          </a:prstGeom>
          <a:solidFill>
            <a:srgbClr val="C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8586" y="288036"/>
            <a:ext cx="201168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FTC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1792"/>
            <a:ext cx="11185855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500" b="0">
                <a:solidFill>
                  <a:srgbClr val="FFFFFF"/>
                </a:solidFill>
                <a:latin typeface="Limelight"/>
              </a:rPr>
              <a:t>The Modules We Will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60704"/>
            <a:ext cx="96926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Every box is a class. Arrows show what creates or calls what. Colour shows who wrote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65148"/>
            <a:ext cx="8458200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65148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674876"/>
            <a:ext cx="814730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AutoBlueLeft    AutoRedRight    BiobuzzTeleOp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extends LinearOpMode - owns nothing, runs the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03500"/>
            <a:ext cx="2606040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03500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13228"/>
            <a:ext cx="229514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Paths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PathChains, built at init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603500"/>
            <a:ext cx="2606040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2603500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713228"/>
            <a:ext cx="229514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Routines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the game-plan recipes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603500"/>
            <a:ext cx="2971800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2603500"/>
            <a:ext cx="41148" cy="727456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713228"/>
            <a:ext cx="266090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Scheduler   (Ivy)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Command / Groups / Pedro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05940" y="2292604"/>
            <a:ext cx="0" cy="310896"/>
          </a:xfrm>
          <a:prstGeom prst="line">
            <a:avLst/>
          </a:prstGeom>
          <a:ln w="15875">
            <a:solidFill>
              <a:srgbClr val="3E34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49140" y="2292604"/>
            <a:ext cx="0" cy="310896"/>
          </a:xfrm>
          <a:prstGeom prst="line">
            <a:avLst/>
          </a:prstGeom>
          <a:ln w="15875">
            <a:solidFill>
              <a:srgbClr val="3E34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75220" y="2292604"/>
            <a:ext cx="0" cy="310896"/>
          </a:xfrm>
          <a:prstGeom prst="line">
            <a:avLst/>
          </a:prstGeom>
          <a:ln w="15875">
            <a:solidFill>
              <a:srgbClr val="3E34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77156" y="2321052"/>
            <a:ext cx="267004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OpMode builds these at init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08960" y="2967228"/>
            <a:ext cx="137160" cy="0"/>
          </a:xfrm>
          <a:prstGeom prst="line">
            <a:avLst/>
          </a:prstGeom>
          <a:ln w="15875">
            <a:solidFill>
              <a:srgbClr val="3E34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52160" y="2967228"/>
            <a:ext cx="137160" cy="0"/>
          </a:xfrm>
          <a:prstGeom prst="line">
            <a:avLst/>
          </a:prstGeom>
          <a:ln w="15875">
            <a:solidFill>
              <a:srgbClr val="3E34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2920" y="3641852"/>
            <a:ext cx="8458200" cy="1239520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641852"/>
            <a:ext cx="41148" cy="12395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41852"/>
            <a:ext cx="81473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Robot   -   startCycle()  /  read()  /  follower.update()  /  Scheduler.execute()  /  write()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044187"/>
            <a:ext cx="1548993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044187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53915"/>
            <a:ext cx="12929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Drive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wheels + paths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801" y="4044187"/>
            <a:ext cx="1548993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98801" y="4044187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6817" y="4153915"/>
            <a:ext cx="12929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Lift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the arm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57523" y="4044187"/>
            <a:ext cx="1548993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57523" y="4044187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85539" y="4153915"/>
            <a:ext cx="12929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Turret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aiming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16244" y="4044187"/>
            <a:ext cx="1548993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16244" y="4044187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44260" y="4153915"/>
            <a:ext cx="12929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Intake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grabbing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74966" y="4044187"/>
            <a:ext cx="1548993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74966" y="4044187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2982" y="4153915"/>
            <a:ext cx="12929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Vision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the camera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475220" y="3330956"/>
            <a:ext cx="0" cy="310896"/>
          </a:xfrm>
          <a:prstGeom prst="line">
            <a:avLst/>
          </a:prstGeom>
          <a:ln w="15875">
            <a:solidFill>
              <a:srgbClr val="3E34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3359404"/>
            <a:ext cx="68442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.requiring(...) - one owner at a time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192267"/>
            <a:ext cx="2606040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5192267"/>
            <a:ext cx="41148" cy="727456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301996"/>
            <a:ext cx="229514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Follower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Pedro Pathing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46120" y="5192267"/>
            <a:ext cx="2606040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46120" y="5192267"/>
            <a:ext cx="41148" cy="727456"/>
          </a:xfrm>
          <a:prstGeom prst="rect">
            <a:avLst/>
          </a:prstGeom>
          <a:solidFill>
            <a:srgbClr val="C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29000" y="5301996"/>
            <a:ext cx="229514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DcMotorEx / Servo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FTC SDK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5192267"/>
            <a:ext cx="2971800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89320" y="5192267"/>
            <a:ext cx="41148" cy="727456"/>
          </a:xfrm>
          <a:prstGeom prst="rect">
            <a:avLst/>
          </a:prstGeom>
          <a:solidFill>
            <a:srgbClr val="C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5301996"/>
            <a:ext cx="266090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Limelight3A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FTC SDK - own processor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377440" y="4881372"/>
            <a:ext cx="0" cy="310895"/>
          </a:xfrm>
          <a:prstGeom prst="line">
            <a:avLst/>
          </a:prstGeom>
          <a:ln w="15875">
            <a:solidFill>
              <a:srgbClr val="3E34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75120" y="4881372"/>
            <a:ext cx="0" cy="310895"/>
          </a:xfrm>
          <a:prstGeom prst="line">
            <a:avLst/>
          </a:prstGeom>
          <a:ln w="15875">
            <a:solidFill>
              <a:srgbClr val="3E34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505456" y="4909820"/>
            <a:ext cx="201168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write()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3136" y="4909820"/>
            <a:ext cx="201168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read()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1565148"/>
            <a:ext cx="240761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40">
                <a:solidFill>
                  <a:srgbClr val="FFFFFF"/>
                </a:solidFill>
                <a:latin typeface="Do Hyeon"/>
              </a:rPr>
              <a:t>UTILITIES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81160" y="1839468"/>
            <a:ext cx="2407615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81160" y="1839468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45752" y="1949196"/>
            <a:ext cx="211500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Fork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run a job alongside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81160" y="2658364"/>
            <a:ext cx="2407615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81160" y="2658364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45752" y="2768092"/>
            <a:ext cx="211500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Timeouts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every wait must end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81160" y="3477260"/>
            <a:ext cx="2407615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281160" y="3477260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45752" y="3586988"/>
            <a:ext cx="211500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LoopTimer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median / p95 / worst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81160" y="4296156"/>
            <a:ext cx="2407615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81160" y="4296156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45752" y="4405884"/>
            <a:ext cx="211500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PoseBuffer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where we were, when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81160" y="5115052"/>
            <a:ext cx="2407615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81160" y="5115052"/>
            <a:ext cx="41148" cy="727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45752" y="5224780"/>
            <a:ext cx="211500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AimSolver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pure aiming maths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9149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00">
                <a:solidFill>
                  <a:srgbClr val="FFFFFF"/>
                </a:solidFill>
                <a:latin typeface="Do Hyeon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02336" cy="274320"/>
          </a:xfrm>
          <a:prstGeom prst="roundRect">
            <a:avLst>
              <a:gd name="adj" fmla="val 18000"/>
            </a:avLst>
          </a:prstGeom>
          <a:solidFill>
            <a:srgbClr val="2A2216"/>
          </a:solidFill>
          <a:ln w="12700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274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60">
                <a:solidFill>
                  <a:srgbClr val="FFFFFF"/>
                </a:solidFill>
                <a:latin typeface="Do Hyeon"/>
              </a:rPr>
              <a:t>THE PART EVERYONE ASKS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97880" y="406908"/>
            <a:ext cx="5790895" cy="10972"/>
          </a:xfrm>
          <a:prstGeom prst="rect">
            <a:avLst/>
          </a:prstGeom>
          <a:solidFill>
            <a:srgbClr val="3E3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500" b="0">
                <a:solidFill>
                  <a:srgbClr val="FFFFFF"/>
                </a:solidFill>
                <a:latin typeface="Limelight"/>
              </a:rPr>
              <a:t>How Ivy's Scheduler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969264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Ivy is not doing several things at the same instant. It does one thing at a time, extremely fast, switching about 165 times a second - which looks identical from the stands.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31847"/>
            <a:ext cx="5669280" cy="363728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" y="1894839"/>
            <a:ext cx="274320" cy="237744"/>
          </a:xfrm>
          <a:prstGeom prst="rect">
            <a:avLst/>
          </a:prstGeom>
          <a:solidFill>
            <a:srgbClr val="2A2216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8948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831847"/>
            <a:ext cx="43159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Grab every sensor reading in one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816" y="1831847"/>
            <a:ext cx="6583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0.3 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50439"/>
            <a:ext cx="5669280" cy="363728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2313432"/>
            <a:ext cx="274320" cy="237744"/>
          </a:xfrm>
          <a:prstGeom prst="rect">
            <a:avLst/>
          </a:prstGeom>
          <a:solidFill>
            <a:srgbClr val="2A2216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31343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250439"/>
            <a:ext cx="43159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Copy those readings into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2250439"/>
            <a:ext cx="6583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~0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69032"/>
            <a:ext cx="5669280" cy="363728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" y="2732024"/>
            <a:ext cx="274320" cy="237744"/>
          </a:xfrm>
          <a:prstGeom prst="rect">
            <a:avLst/>
          </a:prstGeom>
          <a:solidFill>
            <a:srgbClr val="2A2216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73202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669032"/>
            <a:ext cx="43159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Pedro updates where we are and steers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669032"/>
            <a:ext cx="6583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0.5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87624"/>
            <a:ext cx="5669280" cy="363728"/>
          </a:xfrm>
          <a:prstGeom prst="rect">
            <a:avLst/>
          </a:prstGeom>
          <a:solidFill>
            <a:srgbClr val="1F1A13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" y="3150616"/>
            <a:ext cx="274320" cy="237744"/>
          </a:xfrm>
          <a:prstGeom prst="rect">
            <a:avLst/>
          </a:prstGeom>
          <a:solidFill>
            <a:srgbClr val="2A2216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1506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087624"/>
            <a:ext cx="43159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Do Hyeon"/>
              </a:rPr>
              <a:t>Ivy runs - every job gets one quick 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6" y="3087624"/>
            <a:ext cx="6583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0.1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06216"/>
            <a:ext cx="5669280" cy="363728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" y="3569208"/>
            <a:ext cx="274320" cy="237744"/>
          </a:xfrm>
          <a:prstGeom prst="rect">
            <a:avLst/>
          </a:prstGeom>
          <a:solidFill>
            <a:srgbClr val="2A2216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356920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1" y="3506216"/>
            <a:ext cx="43159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Send out only the values that changed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5816" y="3506216"/>
            <a:ext cx="6583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0-4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24807"/>
            <a:ext cx="5669280" cy="363728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" y="3987799"/>
            <a:ext cx="274320" cy="237744"/>
          </a:xfrm>
          <a:prstGeom prst="rect">
            <a:avLst/>
          </a:prstGeom>
          <a:solidFill>
            <a:srgbClr val="2A2216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398779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3924807"/>
            <a:ext cx="43159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Update the driver screen, 10× a second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85816" y="3924807"/>
            <a:ext cx="658368" cy="363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~0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89119"/>
            <a:ext cx="5669280" cy="292608"/>
          </a:xfrm>
          <a:prstGeom prst="rect">
            <a:avLst/>
          </a:prstGeom>
          <a:solidFill>
            <a:srgbClr val="2A2216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389119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60">
                <a:solidFill>
                  <a:srgbClr val="FFFFFF"/>
                </a:solidFill>
                <a:latin typeface="Do Hyeon"/>
              </a:rPr>
              <a:t>   repeat - about 165 times a second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809743"/>
            <a:ext cx="5669280" cy="139801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946903"/>
            <a:ext cx="5303520" cy="112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Step 4: Ivy walks its list and gives each job one turn - a tiny bit of work, then "am I finished?"</a:t>
            </a:r>
          </a:p>
          <a:p>
            <a:pPr>
              <a:lnSpc>
                <a:spcPct val="100000"/>
              </a:lnSpc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[ </a:t>
            </a:r>
            <a:r>
              <a:rPr sz="1600">
                <a:solidFill>
                  <a:srgbClr val="FFFFFF"/>
                </a:solidFill>
                <a:latin typeface="Do Hyeon"/>
              </a:rPr>
              <a:t>follow path - working</a:t>
            </a:r>
            <a:r>
              <a:rPr sz="1600">
                <a:solidFill>
                  <a:srgbClr val="FFFFFF"/>
                </a:solidFill>
                <a:latin typeface="Do Hyeon"/>
              </a:rPr>
              <a:t> ]</a:t>
            </a:r>
            <a:r>
              <a:rPr sz="1600">
                <a:solidFill>
                  <a:srgbClr val="FFFFFF"/>
                </a:solidFill>
                <a:latin typeface="Do Hyeon"/>
              </a:rPr>
              <a:t>   </a:t>
            </a:r>
            <a:r>
              <a:rPr sz="1600">
                <a:solidFill>
                  <a:srgbClr val="FFFFFF"/>
                </a:solidFill>
                <a:latin typeface="Do Hyeon"/>
              </a:rPr>
              <a:t>[ </a:t>
            </a:r>
            <a:r>
              <a:rPr sz="1600">
                <a:solidFill>
                  <a:srgbClr val="FFFFFF"/>
                </a:solidFill>
                <a:latin typeface="Do Hyeon"/>
              </a:rPr>
              <a:t>raise arm - working</a:t>
            </a:r>
            <a:r>
              <a:rPr sz="1600">
                <a:solidFill>
                  <a:srgbClr val="FFFFFF"/>
                </a:solidFill>
                <a:latin typeface="Do Hyeon"/>
              </a:rPr>
              <a:t> ]</a:t>
            </a:r>
          </a:p>
          <a:p>
            <a:pPr>
              <a:lnSpc>
                <a:spcPct val="100000"/>
              </a:lnSpc>
              <a:buNone/>
            </a:pPr>
            <a:r>
              <a:rPr sz="1600">
                <a:solidFill>
                  <a:srgbClr val="FFFFFF"/>
                </a:solidFill>
                <a:latin typeface="Do Hyeon"/>
              </a:rPr>
              <a:t>[ </a:t>
            </a:r>
            <a:r>
              <a:rPr sz="1600">
                <a:solidFill>
                  <a:srgbClr val="FFFFFF"/>
                </a:solidFill>
                <a:latin typeface="Do Hyeon"/>
              </a:rPr>
              <a:t>aim turret - never ends</a:t>
            </a:r>
            <a:r>
              <a:rPr sz="1600">
                <a:solidFill>
                  <a:srgbClr val="FFFFFF"/>
                </a:solidFill>
                <a:latin typeface="Do Hyeon"/>
              </a:rPr>
              <a:t> ]</a:t>
            </a:r>
            <a:r>
              <a:rPr sz="1600">
                <a:solidFill>
                  <a:srgbClr val="FFFFFF"/>
                </a:solidFill>
                <a:latin typeface="Do Hyeon"/>
              </a:rPr>
              <a:t>   </a:t>
            </a:r>
            <a:r>
              <a:rPr sz="1600">
                <a:solidFill>
                  <a:srgbClr val="FFFFFF"/>
                </a:solidFill>
                <a:latin typeface="Do Hyeon"/>
              </a:rPr>
              <a:t>[ </a:t>
            </a:r>
            <a:r>
              <a:rPr sz="1600">
                <a:solidFill>
                  <a:srgbClr val="FFFFFF"/>
                </a:solidFill>
                <a:latin typeface="Do Hyeon"/>
              </a:rPr>
              <a:t>grab - finished</a:t>
            </a:r>
            <a:r>
              <a:rPr sz="1600">
                <a:solidFill>
                  <a:srgbClr val="FFFFFF"/>
                </a:solidFill>
                <a:latin typeface="Do Hyeon"/>
              </a:rPr>
              <a:t> 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1831847"/>
            <a:ext cx="5196535" cy="981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1831847"/>
            <a:ext cx="41148" cy="981456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7" y="1932431"/>
            <a:ext cx="4794199" cy="789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Is it multithreaded?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No - one thread, one job at a time.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The camera is its own computer, not a thread.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886455"/>
            <a:ext cx="5196535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886455"/>
            <a:ext cx="41148" cy="727456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3407" y="2987039"/>
            <a:ext cx="4794199" cy="535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Then how do things happen at once?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While the arm rises, it gets ~200 turns.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687063"/>
            <a:ext cx="5196535" cy="981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687063"/>
            <a:ext cx="41148" cy="981456"/>
          </a:xfrm>
          <a:prstGeom prst="rect">
            <a:avLst/>
          </a:prstGeom>
          <a:solidFill>
            <a:srgbClr val="C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3407" y="3787648"/>
            <a:ext cx="4794199" cy="789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What breaks it?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A job that stops and waits freezes all.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Camera setup calls can wait 15 seconds.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741672"/>
            <a:ext cx="5196535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4741672"/>
            <a:ext cx="41148" cy="727456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93407" y="4842256"/>
            <a:ext cx="4794199" cy="535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Who wins if two jobs want the arm?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The higher-priority job. The other resumes.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5542280"/>
            <a:ext cx="5196535" cy="727456"/>
          </a:xfrm>
          <a:prstGeom prst="rect">
            <a:avLst/>
          </a:prstGeom>
          <a:solidFill>
            <a:srgbClr val="1F1A13"/>
          </a:solidFill>
          <a:ln w="9525">
            <a:solidFill>
              <a:srgbClr val="3E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5542280"/>
            <a:ext cx="41148" cy="727456"/>
          </a:xfrm>
          <a:prstGeom prst="rect">
            <a:avLst/>
          </a:prstGeom>
          <a:solidFill>
            <a:srgbClr val="4E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3407" y="5642864"/>
            <a:ext cx="4794199" cy="535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600" b="0" spc="50">
                <a:solidFill>
                  <a:srgbClr val="FFFFFF"/>
                </a:solidFill>
                <a:latin typeface="Do Hyeon"/>
              </a:rPr>
              <a:t>What if something goes wrong mid-match?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Every job has a time limit. Auto: 28 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37376"/>
            <a:ext cx="996696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Do Hyeon"/>
              </a:rPr>
              <a:t>Full detail: docs/architecture/autonomous-command-architecture.md   /   pedropathing.com/docs/ivy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9149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0" spc="100">
                <a:solidFill>
                  <a:srgbClr val="FFFFFF"/>
                </a:solidFill>
                <a:latin typeface="Do Hyeon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